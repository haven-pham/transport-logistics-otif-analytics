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65b769a-7139-66db-79d7-2dee380271ef}">
          <p14:sldIdLst>
            <p14:sldId id="256"/>
            <p14:sldId id="257"/>
            <p14:sldId id="258"/>
            <p14:sldId id="259"/>
            <p14:sldId id="260"/>
          </p14:sldIdLst>
        </p14:section>
        <p14:section name="Delivery health" id="{5c4b6c9b-8e17-f025-8a92-2e745511d2d8}">
          <p14:sldIdLst>
            <p14:sldId id="261"/>
            <p14:sldId id="262"/>
            <p14:sldId id="263"/>
            <p14:sldId id="264"/>
          </p14:sldIdLst>
        </p14:section>
        <p14:section name="Partners &amp; patterns" id="{38d84a6c-cea8-5224-3d2c-413fbdbe5f4d}">
          <p14:sldIdLst>
            <p14:sldId id="265"/>
            <p14:sldId id="266"/>
            <p14:sldId id="267"/>
            <p14:sldId id="268"/>
            <p14:sldId id="269"/>
          </p14:sldIdLst>
        </p14:section>
        <p14:section name="Prediction &amp; plan" id="{d58b6e74-2a59-9ff8-48b2-12b4aadbac97}">
          <p14:sldIdLst>
            <p14:sldId id="270"/>
            <p14:sldId id="271"/>
            <p14:sldId id="272"/>
            <p14:sldId id="273"/>
          </p14:sldIdLst>
        </p14:section>
        <p14:section name="Recommendations" id="{28b28f76-4f55-cacd-9535-200c60c25ffb}">
          <p14:sldIdLst>
            <p14:sldId id="274"/>
            <p14:sldId id="275"/>
          </p14:sldIdLst>
        </p14:section>
        <p14:section name="Close" id="{135d573d-795b-d8fa-4d6e-15df03e7ce4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%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Dec 19</c:v>
                  </c:pt>
                  <c:pt idx="1">
                    <c:v>Jan 20</c:v>
                  </c:pt>
                  <c:pt idx="2">
                    <c:v>Feb 20</c:v>
                  </c:pt>
                  <c:pt idx="3">
                    <c:v>Mar 20</c:v>
                  </c:pt>
                  <c:pt idx="4">
                    <c:v>May 20</c:v>
                  </c:pt>
                  <c:pt idx="5">
                    <c:v>Jun 20</c:v>
                  </c:pt>
                  <c:pt idx="6">
                    <c:v>Jul 20</c:v>
                  </c:pt>
                  <c:pt idx="7">
                    <c:v>Aug 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0.0111731843575419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0.23387096774193547</c:v>
                </c:pt>
                <c:pt idx="6">
                  <c:v>0.31210191082802546</c:v>
                </c:pt>
                <c:pt idx="7">
                  <c:v>0.6717984604618614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%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 100 km</c:v>
                  </c:pt>
                  <c:pt idx="1">
                    <c:v>100-300 km</c:v>
                  </c:pt>
                  <c:pt idx="2">
                    <c:v>300-700 km</c:v>
                  </c:pt>
                  <c:pt idx="3">
                    <c:v>700-1,200 km</c:v>
                  </c:pt>
                  <c:pt idx="4">
                    <c:v>1,200-2,000 km</c:v>
                  </c:pt>
                  <c:pt idx="5">
                    <c:v>&gt; 2,000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0.38461538461538464</c:v>
                </c:pt>
                <c:pt idx="1">
                  <c:v>0.6778711484593838</c:v>
                </c:pt>
                <c:pt idx="2">
                  <c:v>0.5409836065573771</c:v>
                </c:pt>
                <c:pt idx="3">
                  <c:v>0.33524904214559387</c:v>
                </c:pt>
                <c:pt idx="4">
                  <c:v>0.19326241134751773</c:v>
                </c:pt>
                <c:pt idx="5">
                  <c:v>0.125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Feasible plans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 100 km</c:v>
                  </c:pt>
                  <c:pt idx="1">
                    <c:v>100-300 km</c:v>
                  </c:pt>
                  <c:pt idx="2">
                    <c:v>300-700 km</c:v>
                  </c:pt>
                  <c:pt idx="3">
                    <c:v>700-1,200 km</c:v>
                  </c:pt>
                  <c:pt idx="4">
                    <c:v>1,200-2,000 km</c:v>
                  </c:pt>
                  <c:pt idx="5">
                    <c:v>&gt; 2,000 km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0.9267399267399268</c:v>
                </c:pt>
                <c:pt idx="1">
                  <c:v>0.9607843137254902</c:v>
                </c:pt>
                <c:pt idx="2">
                  <c:v>0.8079625292740047</c:v>
                </c:pt>
                <c:pt idx="3">
                  <c:v>0.4329501915708812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Below expected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+0&quot; pp&quot;;-0&quot; pp&quot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Namakkal Sri Anjinaya Transport</c:v>
                  </c:pt>
                  <c:pt idx="1">
                    <c:v>Eswar Transport</c:v>
                  </c:pt>
                  <c:pt idx="2">
                    <c:v>Susee Transporter</c:v>
                  </c:pt>
                  <c:pt idx="3">
                    <c:v>Arvinth Transport</c:v>
                  </c:pt>
                  <c:pt idx="4">
                    <c:v>Sr Transports</c:v>
                  </c:pt>
                  <c:pt idx="5">
                    <c:v>Sri Pachiamman Transport</c:v>
                  </c:pt>
                  <c:pt idx="6">
                    <c:v>Sunita Carriers</c:v>
                  </c:pt>
                  <c:pt idx="7">
                    <c:v>Baba Lingaraj</c:v>
                  </c:pt>
                  <c:pt idx="8">
                    <c:v>Shri Sai</c:v>
                  </c:pt>
                  <c:pt idx="9">
                    <c:v>K.Ramachandran Transports</c:v>
                  </c:pt>
                  <c:pt idx="10">
                    <c:v>A P R Trailler Service</c:v>
                  </c:pt>
                  <c:pt idx="11">
                    <c:v>K M R Transport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-32.49569911979219</c:v>
                </c:pt>
                <c:pt idx="7">
                  <c:v>-33.25675022923274</c:v>
                </c:pt>
                <c:pt idx="8">
                  <c:v>-37.54413270107591</c:v>
                </c:pt>
                <c:pt idx="9">
                  <c:v>-40.67198678607177</c:v>
                </c:pt>
                <c:pt idx="10">
                  <c:v>-41.01384295483675</c:v>
                </c:pt>
                <c:pt idx="11">
                  <c:v>-43.42555994729908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Above expected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+0&quot; pp&quot;;-0&quot; pp&quot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Namakkal Sri Anjinaya Transport</c:v>
                  </c:pt>
                  <c:pt idx="1">
                    <c:v>Eswar Transport</c:v>
                  </c:pt>
                  <c:pt idx="2">
                    <c:v>Susee Transporter</c:v>
                  </c:pt>
                  <c:pt idx="3">
                    <c:v>Arvinth Transport</c:v>
                  </c:pt>
                  <c:pt idx="4">
                    <c:v>Sr Transports</c:v>
                  </c:pt>
                  <c:pt idx="5">
                    <c:v>Sri Pachiamman Transport</c:v>
                  </c:pt>
                  <c:pt idx="6">
                    <c:v>Sunita Carriers</c:v>
                  </c:pt>
                  <c:pt idx="7">
                    <c:v>Baba Lingaraj</c:v>
                  </c:pt>
                  <c:pt idx="8">
                    <c:v>Shri Sai</c:v>
                  </c:pt>
                  <c:pt idx="9">
                    <c:v>K.Ramachandran Transports</c:v>
                  </c:pt>
                  <c:pt idx="10">
                    <c:v>A P R Trailler Service</c:v>
                  </c:pt>
                  <c:pt idx="11">
                    <c:v>K M R Transport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58.629776021080374</c:v>
                </c:pt>
                <c:pt idx="1">
                  <c:v>49.996016790758965</c:v>
                </c:pt>
                <c:pt idx="2">
                  <c:v>49.96670524303938</c:v>
                </c:pt>
                <c:pt idx="3">
                  <c:v>40.23850033407511</c:v>
                </c:pt>
                <c:pt idx="4">
                  <c:v>30.715705079471356</c:v>
                </c:pt>
                <c:pt idx="5">
                  <c:v>30.46647230320698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+0&quot; pp&quot;;-0&quot; pp&quot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Auto Parts</c:v>
                  </c:pt>
                  <c:pt idx="1">
                    <c:v>Electrical Components</c:v>
                  </c:pt>
                  <c:pt idx="2">
                    <c:v>Returnable Packaging</c:v>
                  </c:pt>
                  <c:pt idx="3">
                    <c:v>Other Industrial</c:v>
                  </c:pt>
                  <c:pt idx="4">
                    <c:v>Mechanical / Drivetrain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0.32820097244732577</c:v>
                </c:pt>
                <c:pt idx="1">
                  <c:v>0.38070404172099087</c:v>
                </c:pt>
                <c:pt idx="2">
                  <c:v>0.40476190476190477</c:v>
                </c:pt>
                <c:pt idx="3">
                  <c:v>0.4106529209621993</c:v>
                </c:pt>
                <c:pt idx="4">
                  <c:v>0.4794069192751236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OTIF</c:v>
                </c:pt>
              </c:strCache>
            </c:strRef>
          </c:tx>
          <c:spPr>
            <a:solidFill>
              <a:srgbClr val="0F2A4A"/>
            </a:solidFill>
            <a:ln w="38100" cap="flat">
              <a:solidFill>
                <a:srgbClr val="0F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2A4A"/>
              </a:solidFill>
              <a:ln w="9525" cap="flat">
                <a:solidFill>
                  <a:srgbClr val="0F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0.46003016591251883</c:v>
                </c:pt>
                <c:pt idx="1">
                  <c:v>0.3825701624815362</c:v>
                </c:pt>
                <c:pt idx="2">
                  <c:v>0.3739967897271268</c:v>
                </c:pt>
                <c:pt idx="3">
                  <c:v>0.3830769230769231</c:v>
                </c:pt>
                <c:pt idx="4">
                  <c:v>0.3907637655417407</c:v>
                </c:pt>
                <c:pt idx="5">
                  <c:v>0.29239766081871343</c:v>
                </c:pt>
                <c:pt idx="6">
                  <c:v>0.234375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for lane mix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0.4262068201683433</c:v>
                </c:pt>
                <c:pt idx="1">
                  <c:v>0.39035557536368204</c:v>
                </c:pt>
                <c:pt idx="2">
                  <c:v>0.3768288357662318</c:v>
                </c:pt>
                <c:pt idx="3">
                  <c:v>0.3898139691681904</c:v>
                </c:pt>
                <c:pt idx="4">
                  <c:v>0.37242844838243744</c:v>
                </c:pt>
                <c:pt idx="5">
                  <c:v>0.32256190625224035</c:v>
                </c:pt>
                <c:pt idx="6">
                  <c:v>0.4065206357486099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Normal</c:v>
                </c:pt>
                <c:pt idx="1">
                  <c:v>Route shorter than straight line (impossible)</c:v>
                </c:pt>
                <c:pt idx="2">
                  <c:v>Round trip (origin = destination)</c:v>
                </c:pt>
                <c:pt idx="3">
                  <c:v>Route &gt; 2.5x straight line (detour)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2724</c:v>
                </c:pt>
                <c:pt idx="1">
                  <c:v>418</c:v>
                </c:pt>
                <c:pt idx="2">
                  <c:v>235</c:v>
                </c:pt>
                <c:pt idx="3">
                  <c:v>205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/ tonne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East (OTIF 29%)</c:v>
                  </c:pt>
                  <c:pt idx="1">
                    <c:v>North-East (OTIF 22%)</c:v>
                  </c:pt>
                  <c:pt idx="2">
                    <c:v>South (OTIF 53%)</c:v>
                  </c:pt>
                  <c:pt idx="3">
                    <c:v>West (OTIF 37%)</c:v>
                  </c:pt>
                  <c:pt idx="4">
                    <c:v>North (OTIF 12%)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368</c:v>
                </c:pt>
                <c:pt idx="1">
                  <c:v>607</c:v>
                </c:pt>
                <c:pt idx="2">
                  <c:v>1095</c:v>
                </c:pt>
                <c:pt idx="3">
                  <c:v>3597</c:v>
                </c:pt>
                <c:pt idx="4">
                  <c:v>5628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 (0)</c:v>
                  </c:pt>
                  <c:pt idx="1">
                    <c:v>Medium (1-2)</c:v>
                  </c:pt>
                  <c:pt idx="2">
                    <c:v>High (3-4)</c:v>
                  </c:pt>
                  <c:pt idx="3">
                    <c:v>Critical (5+)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0.06047197640117996</c:v>
                </c:pt>
                <c:pt idx="1">
                  <c:v>0.1991150442477876</c:v>
                </c:pt>
                <c:pt idx="2">
                  <c:v>0.6548223350253808</c:v>
                </c:pt>
                <c:pt idx="3">
                  <c:v>0.7604790419161677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uplift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+0.0&quot; pp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Re-tender 12 carriers</c:v>
                  </c:pt>
                  <c:pt idx="1">
                    <c:v>Early-warning score</c:v>
                  </c:pt>
                  <c:pt idx="2">
                    <c:v>Distance-based SLA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6.847871737368931</c:v>
                </c:pt>
                <c:pt idx="1">
                  <c:v>4.96929089893914</c:v>
                </c:pt>
                <c:pt idx="2">
                  <c:v>15.561529271206693</c:v>
                </c:pt>
              </c:numCache>
            </c:numRef>
          </c:val>
        </c:ser>
        <c:dLbls>
          <c:numFmt formatCode="+0.0&quot; pp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diagnose why only 4 in 10 trips arrive on time, and agree three actions for next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Moves 1 and 2 alone deliver about +11.8 pp, more than double the target, without changing what we promise. Move 3 fixes the promise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question is answered with a number, a root cause and an action. The deck is grouped into three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about the two missing inputs: weight and cost. Utilisation and cost answers are proxies with stated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celebrate August: it is a mix effect. The structural problem is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slide. The plan, not the truck, causes most long-haul lateness.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Distance-adjusted benchmarking is what makes the exit decision defensible in a supplier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popular hypotheses rejected by the data. That saves the Board from investing in the wrong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call the customer at booking with a realistic ETA. High: dispatcher checks carrier and slot. Low: no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without changing the SLA, moves 1 and 2 give about +11.8 pp. Network next step: a North cross-dock feasibility study for Haryana, Rajasthan, Delhi and 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060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BharatLink Freight  |  OTIF Performance Review (Dec 2019 – Aug 2020)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7E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BharatLink Freight  |  OTIF Performance Review (Dec 2019 – Aug 2020)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7E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From 39% to 50%+: Fixing On-Time Delivery at BharatLink Freight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Transportation &amp; logistics analytics: 3,582 GPS-tracked trips, 10 golden questions, and three moves to lift OTIF by ≥ 5 pp next quarter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Prepared by Pham Hong Hieu, Logistics Data Analyst  ·  For the Board &amp; Head of Operations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Most late trips were late before the truck left: the promise is the problem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548640" y="1325880"/>
            <a:ext cx="256786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777240" y="14630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38.6%</a:t>
            </a:r>
            <a:endParaRPr lang="en-US" sz="3400" dirty="0"/>
          </a:p>
        </p:txBody>
      </p:sp>
      <p:sp>
        <p:nvSpPr>
          <p:cNvPr id="5" name="stat label"/>
          <p:cNvSpPr txBox="1"/>
          <p:nvPr/>
        </p:nvSpPr>
        <p:spPr>
          <a:xfrm>
            <a:off x="777240" y="2167128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network OTIF across 3,582 trips: 2,201 trips arrived late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3390824" y="1325880"/>
            <a:ext cx="256786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3619424" y="14630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0%</a:t>
            </a:r>
            <a:endParaRPr lang="en-US" sz="3400" dirty="0"/>
          </a:p>
        </p:txBody>
      </p:sp>
      <p:sp>
        <p:nvSpPr>
          <p:cNvPr id="8" name="stat label"/>
          <p:cNvSpPr txBox="1"/>
          <p:nvPr/>
        </p:nvSpPr>
        <p:spPr>
          <a:xfrm>
            <a:off x="3619424" y="2167128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trips over 1,200 km get a feasible ETA: a flat ~100-hour promise ignores distance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6233008" y="1325880"/>
            <a:ext cx="256786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6461608" y="14630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stat label"/>
          <p:cNvSpPr txBox="1"/>
          <p:nvPr/>
        </p:nvSpPr>
        <p:spPr>
          <a:xfrm>
            <a:off x="6461608" y="2167128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carriers perform ≥ 15 pp below their lane benchmark, on 22% of volume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9075191" y="1325880"/>
            <a:ext cx="256786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9303791" y="14630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82%</a:t>
            </a:r>
            <a:endParaRPr lang="en-US" sz="3400" dirty="0"/>
          </a:p>
        </p:txBody>
      </p:sp>
      <p:sp>
        <p:nvSpPr>
          <p:cNvPr id="14" name="stat label"/>
          <p:cNvSpPr txBox="1"/>
          <p:nvPr/>
        </p:nvSpPr>
        <p:spPr>
          <a:xfrm>
            <a:off x="9303791" y="2167128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late trips are caught at booking by a 4-rule early-warning score (72% precision)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383280"/>
            <a:ext cx="11094415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Three moves for next quarter (target ≥ +5 pp OTIF)</a:t>
            </a:r>
            <a:endParaRPr lang="en-US" sz="1800" dirty="0"/>
          </a:p>
        </p:txBody>
      </p:sp>
      <p:sp>
        <p:nvSpPr>
          <p:cNvPr id="17" name="bullets"/>
          <p:cNvSpPr txBox="1"/>
          <p:nvPr/>
        </p:nvSpPr>
        <p:spPr>
          <a:xfrm>
            <a:off x="822960" y="4023360"/>
            <a:ext cx="105457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Re-tender the 12 weakest carriers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and move their ~800 trips to 9 proven performers: +6.8 pp.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Run the booking-time early-warning score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in customer service and dispatch: +5.0 pp at a cautious 10% recovery rate.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Replace the flat 100-hour ETA with a distance-based SLA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(250 km/day): an honest promise that re-baselines OTIF by +15.6 pp, plus a North hub study.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brief: ten golden questions from the Board</a:t>
            </a:r>
            <a:endParaRPr lang="en-US" sz="2600" dirty="0"/>
          </a:p>
        </p:txBody>
      </p:sp>
      <p:sp>
        <p:nvSpPr>
          <p:cNvPr id="3" name="badge"/>
          <p:cNvSpPr/>
          <p:nvPr/>
        </p:nvSpPr>
        <p:spPr>
          <a:xfrm>
            <a:off x="548640" y="1353312"/>
            <a:ext cx="420624" cy="420624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" name="badge number"/>
          <p:cNvSpPr txBox="1"/>
          <p:nvPr/>
        </p:nvSpPr>
        <p:spPr>
          <a:xfrm>
            <a:off x="54864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OTIF health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64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Network OTIF and its monthly trend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548640" y="2340864"/>
            <a:ext cx="420624" cy="420624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badge number"/>
          <p:cNvSpPr txBox="1"/>
          <p:nvPr/>
        </p:nvSpPr>
        <p:spPr>
          <a:xfrm>
            <a:off x="54864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267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Route bottlenecks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Where is lead time abnormal, and why?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2" name="badge number"/>
          <p:cNvSpPr txBox="1"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552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Carrier performance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39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and worst carriers: should we exit any?</a:t>
            </a:r>
            <a:endParaRPr lang="en-US" sz="1400" dirty="0"/>
          </a:p>
        </p:txBody>
      </p:sp>
      <p:sp>
        <p:nvSpPr>
          <p:cNvPr id="15" name="badge"/>
          <p:cNvSpPr/>
          <p:nvPr/>
        </p:nvSpPr>
        <p:spPr>
          <a:xfrm>
            <a:off x="548640" y="4315968"/>
            <a:ext cx="420624" cy="420624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6" name="badge number"/>
          <p:cNvSpPr txBox="1"/>
          <p:nvPr/>
        </p:nvSpPr>
        <p:spPr>
          <a:xfrm>
            <a:off x="54864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2428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Delay root cause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delay linked to material type?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0" name="badge number"/>
          <p:cNvSpPr txBox="1"/>
          <p:nvPr/>
        </p:nvSpPr>
        <p:spPr>
          <a:xfrm>
            <a:off x="54864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230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 utilisation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614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many trips run empty or under-loaded?</a:t>
            </a:r>
            <a:endParaRPr lang="en-US" sz="1400" dirty="0"/>
          </a:p>
        </p:txBody>
      </p:sp>
      <p:sp>
        <p:nvSpPr>
          <p:cNvPr id="23" name="badge"/>
          <p:cNvSpPr/>
          <p:nvPr/>
        </p:nvSpPr>
        <p:spPr>
          <a:xfrm>
            <a:off x="6217920" y="1353312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badge number"/>
          <p:cNvSpPr txBox="1"/>
          <p:nvPr/>
        </p:nvSpPr>
        <p:spPr>
          <a:xfrm>
            <a:off x="621792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280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GPS anomalies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1664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routes don't match straight-line distance?</a:t>
            </a:r>
            <a:endParaRPr lang="en-US" sz="1400" dirty="0"/>
          </a:p>
        </p:txBody>
      </p:sp>
      <p:sp>
        <p:nvSpPr>
          <p:cNvPr id="27" name="badge"/>
          <p:cNvSpPr/>
          <p:nvPr/>
        </p:nvSpPr>
        <p:spPr>
          <a:xfrm>
            <a:off x="6217920" y="2340864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badge number"/>
          <p:cNvSpPr txBox="1"/>
          <p:nvPr/>
        </p:nvSpPr>
        <p:spPr>
          <a:xfrm>
            <a:off x="621792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267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Seasonality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Weekday vs. weekend: why Wednesday?</a:t>
            </a:r>
            <a:endParaRPr lang="en-US" sz="1400" dirty="0"/>
          </a:p>
        </p:txBody>
      </p:sp>
      <p:sp>
        <p:nvSpPr>
          <p:cNvPr id="31" name="badge"/>
          <p:cNvSpPr/>
          <p:nvPr/>
        </p:nvSpPr>
        <p:spPr>
          <a:xfrm>
            <a:off x="6217920" y="3328416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badge number"/>
          <p:cNvSpPr txBox="1"/>
          <p:nvPr/>
        </p:nvSpPr>
        <p:spPr>
          <a:xfrm>
            <a:off x="6217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2552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efficiency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639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Freight cost per unit by region</a:t>
            </a:r>
            <a:endParaRPr lang="en-US" sz="1400" dirty="0"/>
          </a:p>
        </p:txBody>
      </p:sp>
      <p:sp>
        <p:nvSpPr>
          <p:cNvPr id="35" name="badge"/>
          <p:cNvSpPr/>
          <p:nvPr/>
        </p:nvSpPr>
        <p:spPr>
          <a:xfrm>
            <a:off x="6217920" y="4315968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badge number"/>
          <p:cNvSpPr txBox="1"/>
          <p:nvPr/>
        </p:nvSpPr>
        <p:spPr>
          <a:xfrm>
            <a:off x="621792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2428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Breaking points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626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volume, low success: hub or carrier?</a:t>
            </a:r>
            <a:endParaRPr lang="en-US" sz="1400" dirty="0"/>
          </a:p>
        </p:txBody>
      </p:sp>
      <p:sp>
        <p:nvSpPr>
          <p:cNvPr id="39" name="badge"/>
          <p:cNvSpPr/>
          <p:nvPr/>
        </p:nvSpPr>
        <p:spPr>
          <a:xfrm>
            <a:off x="6217920" y="530352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badge number"/>
          <p:cNvSpPr txBox="1"/>
          <p:nvPr/>
        </p:nvSpPr>
        <p:spPr>
          <a:xfrm>
            <a:off x="621792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230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Delay prediction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812280" y="5614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warning at booking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Raw GPS export → clean trip-level star schema → dashboard</a:t>
            </a:r>
            <a:endParaRPr lang="en-US" sz="2600" dirty="0"/>
          </a:p>
        </p:txBody>
      </p:sp>
      <p:sp>
        <p:nvSpPr>
          <p:cNvPr id="3" name="step"/>
          <p:cNvSpPr/>
          <p:nvPr/>
        </p:nvSpPr>
        <p:spPr>
          <a:xfrm>
            <a:off x="548640" y="1371600"/>
            <a:ext cx="2036003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Ingest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92808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sheet, 28 columns of GPS tracking data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612075" y="1874520"/>
            <a:ext cx="17373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tep"/>
          <p:cNvSpPr/>
          <p:nvPr/>
        </p:nvSpPr>
        <p:spPr>
          <a:xfrm>
            <a:off x="2813243" y="1371600"/>
            <a:ext cx="2036003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6123" y="1481328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Audit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96123" y="1892808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Types, placeholders, gaps, duplicates, ranges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4876678" y="1874520"/>
            <a:ext cx="17373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tep"/>
          <p:cNvSpPr/>
          <p:nvPr/>
        </p:nvSpPr>
        <p:spPr>
          <a:xfrm>
            <a:off x="5077846" y="1371600"/>
            <a:ext cx="2036003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0726" y="1481328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Clean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60726" y="1892808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Dedupe, normalise text, parse states, drop PII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7141281" y="1874520"/>
            <a:ext cx="17373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tep"/>
          <p:cNvSpPr/>
          <p:nvPr/>
        </p:nvSpPr>
        <p:spPr>
          <a:xfrm>
            <a:off x="7342449" y="1371600"/>
            <a:ext cx="2036003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329" y="1481328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Enrich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25329" y="1892808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SLA feasibility, GPS ratio, material type, risk score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9405884" y="1874520"/>
            <a:ext cx="17373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tep"/>
          <p:cNvSpPr/>
          <p:nvPr/>
        </p:nvSpPr>
        <p:spPr>
          <a:xfrm>
            <a:off x="9607052" y="1371600"/>
            <a:ext cx="2036003" cy="1234440"/>
          </a:xfrm>
          <a:prstGeom prst="roundRect">
            <a:avLst>
              <a:gd name="adj" fmla="val 5926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9932" y="1481328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 Visualise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89932" y="1892808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Star schema → Power BI (3 pages)</a:t>
            </a:r>
            <a:endParaRPr lang="en-US" sz="1300" dirty="0"/>
          </a:p>
        </p:txBody>
      </p:sp>
      <p:sp>
        <p:nvSpPr>
          <p:cNvPr id="22" name="stat card"/>
          <p:cNvSpPr/>
          <p:nvPr/>
        </p:nvSpPr>
        <p:spPr>
          <a:xfrm>
            <a:off x="548640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tat value"/>
          <p:cNvSpPr txBox="1"/>
          <p:nvPr/>
        </p:nvSpPr>
        <p:spPr>
          <a:xfrm>
            <a:off x="777240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3,582</a:t>
            </a:r>
            <a:endParaRPr lang="en-US" sz="3000" dirty="0"/>
          </a:p>
        </p:txBody>
      </p:sp>
      <p:sp>
        <p:nvSpPr>
          <p:cNvPr id="24" name="stat label"/>
          <p:cNvSpPr txBox="1"/>
          <p:nvPr/>
        </p:nvSpPr>
        <p:spPr>
          <a:xfrm>
            <a:off x="777240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trips (bookings)</a:t>
            </a:r>
            <a:endParaRPr lang="en-US" sz="1300" dirty="0"/>
          </a:p>
        </p:txBody>
      </p:sp>
      <p:sp>
        <p:nvSpPr>
          <p:cNvPr id="25" name="stat card"/>
          <p:cNvSpPr/>
          <p:nvPr/>
        </p:nvSpPr>
        <p:spPr>
          <a:xfrm>
            <a:off x="2435809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tat value"/>
          <p:cNvSpPr txBox="1"/>
          <p:nvPr/>
        </p:nvSpPr>
        <p:spPr>
          <a:xfrm>
            <a:off x="2664409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192</a:t>
            </a:r>
            <a:endParaRPr lang="en-US" sz="3000" dirty="0"/>
          </a:p>
        </p:txBody>
      </p:sp>
      <p:sp>
        <p:nvSpPr>
          <p:cNvPr id="27" name="stat label"/>
          <p:cNvSpPr txBox="1"/>
          <p:nvPr/>
        </p:nvSpPr>
        <p:spPr>
          <a:xfrm>
            <a:off x="2664409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carriers</a:t>
            </a:r>
            <a:endParaRPr lang="en-US" sz="1300" dirty="0"/>
          </a:p>
        </p:txBody>
      </p:sp>
      <p:sp>
        <p:nvSpPr>
          <p:cNvPr id="28" name="stat card"/>
          <p:cNvSpPr/>
          <p:nvPr/>
        </p:nvSpPr>
        <p:spPr>
          <a:xfrm>
            <a:off x="4322978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tat value"/>
          <p:cNvSpPr txBox="1"/>
          <p:nvPr/>
        </p:nvSpPr>
        <p:spPr>
          <a:xfrm>
            <a:off x="4551578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</a:t>
            </a:r>
            <a:endParaRPr lang="en-US" sz="3000" dirty="0"/>
          </a:p>
        </p:txBody>
      </p:sp>
      <p:sp>
        <p:nvSpPr>
          <p:cNvPr id="30" name="stat label"/>
          <p:cNvSpPr txBox="1"/>
          <p:nvPr/>
        </p:nvSpPr>
        <p:spPr>
          <a:xfrm>
            <a:off x="4551578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customers (OEMs)</a:t>
            </a:r>
            <a:endParaRPr lang="en-US" sz="1300" dirty="0"/>
          </a:p>
        </p:txBody>
      </p:sp>
      <p:sp>
        <p:nvSpPr>
          <p:cNvPr id="31" name="stat card"/>
          <p:cNvSpPr/>
          <p:nvPr/>
        </p:nvSpPr>
        <p:spPr>
          <a:xfrm>
            <a:off x="6210148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tat value"/>
          <p:cNvSpPr txBox="1"/>
          <p:nvPr/>
        </p:nvSpPr>
        <p:spPr>
          <a:xfrm>
            <a:off x="6438748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3.1M</a:t>
            </a:r>
            <a:endParaRPr lang="en-US" sz="3000" dirty="0"/>
          </a:p>
        </p:txBody>
      </p:sp>
      <p:sp>
        <p:nvSpPr>
          <p:cNvPr id="33" name="stat label"/>
          <p:cNvSpPr txBox="1"/>
          <p:nvPr/>
        </p:nvSpPr>
        <p:spPr>
          <a:xfrm>
            <a:off x="6438748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km travelled</a:t>
            </a:r>
            <a:endParaRPr lang="en-US" sz="1300" dirty="0"/>
          </a:p>
        </p:txBody>
      </p:sp>
      <p:sp>
        <p:nvSpPr>
          <p:cNvPr id="34" name="stat card"/>
          <p:cNvSpPr/>
          <p:nvPr/>
        </p:nvSpPr>
        <p:spPr>
          <a:xfrm>
            <a:off x="8097317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tat value"/>
          <p:cNvSpPr txBox="1"/>
          <p:nvPr/>
        </p:nvSpPr>
        <p:spPr>
          <a:xfrm>
            <a:off x="8325917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525</a:t>
            </a:r>
            <a:endParaRPr lang="en-US" sz="3000" dirty="0"/>
          </a:p>
        </p:txBody>
      </p:sp>
      <p:sp>
        <p:nvSpPr>
          <p:cNvPr id="36" name="stat label"/>
          <p:cNvSpPr txBox="1"/>
          <p:nvPr/>
        </p:nvSpPr>
        <p:spPr>
          <a:xfrm>
            <a:off x="8325917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km median trip</a:t>
            </a:r>
            <a:endParaRPr lang="en-US" sz="1300" dirty="0"/>
          </a:p>
        </p:txBody>
      </p:sp>
      <p:sp>
        <p:nvSpPr>
          <p:cNvPr id="37" name="stat card"/>
          <p:cNvSpPr/>
          <p:nvPr/>
        </p:nvSpPr>
        <p:spPr>
          <a:xfrm>
            <a:off x="9984486" y="2926080"/>
            <a:ext cx="165856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tat value"/>
          <p:cNvSpPr txBox="1"/>
          <p:nvPr/>
        </p:nvSpPr>
        <p:spPr>
          <a:xfrm>
            <a:off x="10213086" y="3063240"/>
            <a:ext cx="12013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 mo.</a:t>
            </a:r>
            <a:endParaRPr lang="en-US" sz="3000" dirty="0"/>
          </a:p>
        </p:txBody>
      </p:sp>
      <p:sp>
        <p:nvSpPr>
          <p:cNvPr id="39" name="stat label"/>
          <p:cNvSpPr txBox="1"/>
          <p:nvPr/>
        </p:nvSpPr>
        <p:spPr>
          <a:xfrm>
            <a:off x="10213086" y="3767328"/>
            <a:ext cx="120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 2019 – Aug 2020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526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Definitions: OTIF = on-time arrival (Actual ETA ≤ Planned ETA); there is no in-full quantity in the data. SLA feasible = planned transit time ≥ distance ÷ 250 km/day (the dataset's own minimum-km policy). Expected OTIF = network on-time rate for the same distance band and SLA feasibility.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Tools: Python (pandas, scipy, plotly) · Power BI (PBIP, TMDL, DAX) · PowerPoint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 messy operational export: eight issues fixed before any analysis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103120"/>
                <a:gridCol w="33192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Treatment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Mixed types in date columns + Excel zero-date 1899-12-30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placeholder dates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Coerced to datetime; placeholders → blank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Duplicate Booking IDs (same truck, different material lines)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rows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row per booking (trip grain)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Inconsistent text: 152 origin / 353 destination spellings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 &amp; spacing variants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Normalised; state, city &amp; zone parsed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712 free-text material descriptions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column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Keyword rules → 6 material categories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vehicle type / distance / driver fields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 / 4% / PII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'Unknown' class; distance imputed (×1.31 road factor); PII dropped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 time &lt; 0 or &gt; 30 days (stale GPS closures)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79 trips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Flagged; excluded from lead-time stats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'Unknown' carrier, 'Xxxxxx' material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217 / 14 trips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Kept as explicit categories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in-full quantity, weight or freight cost in the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 gap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OTIF = on-time; utilisation &amp; cost via labelled proxies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healthy is delivery, and where does it break?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Q1 OTIF trend · Q2 route bottlenecks and the SLA design flaw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7E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Q1: OTIF is 38.6%, and the summer rise is mostly a change in mix</a:t>
            </a:r>
            <a:endParaRPr lang="en-US" sz="2600" dirty="0"/>
          </a:p>
        </p:txBody>
      </p:sp>
      <p:graphicFrame>
        <p:nvGraphicFramePr>
          <p:cNvPr id="3" name="Monthly OTIF chart" descr=""/>
          <p:cNvGraphicFramePr/>
          <p:nvPr/>
        </p:nvGraphicFramePr>
        <p:xfrm>
          <a:off x="548640" y="12801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Trips per month: 179 · 358 · 68 · 44 · 55 · 496 · 942 · 1,429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7772400" y="1280160"/>
            <a:ext cx="3870655" cy="4617720"/>
          </a:xfrm>
          <a:prstGeom prst="roundRect">
            <a:avLst>
              <a:gd name="adj" fmla="val 189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8001000" y="1508760"/>
            <a:ext cx="34134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Dec–May: 0–1% on time.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Almost only L&amp;T site shuttles (70–110 km). 85–95% of plans were feasible, yet trucks took days: dwell, not driving.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Jun → Aug: 23% → 31% → 67%.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The August jump comes from short Daimler / Ashok Leyland lanes in Tamil Nadu (73–91% on time).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Long-haul did not improve.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The trend is real only for short-haul.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Q2: a flat ~100-hour ETA makes every long-haul trip late by design</a:t>
            </a:r>
            <a:endParaRPr lang="en-US" sz="2600" dirty="0"/>
          </a:p>
        </p:txBody>
      </p:sp>
      <p:graphicFrame>
        <p:nvGraphicFramePr>
          <p:cNvPr id="3" name="OTIF and feasibility by distance chart" descr=""/>
          <p:cNvGraphicFramePr/>
          <p:nvPr/>
        </p:nvGraphicFramePr>
        <p:xfrm>
          <a:off x="548640" y="128016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7772400" y="1280160"/>
            <a:ext cx="3870655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tat value"/>
          <p:cNvSpPr txBox="1"/>
          <p:nvPr/>
        </p:nvSpPr>
        <p:spPr>
          <a:xfrm>
            <a:off x="8001000" y="141732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55.6% vs 16.7%</a:t>
            </a:r>
            <a:endParaRPr lang="en-US" sz="2600" dirty="0"/>
          </a:p>
        </p:txBody>
      </p:sp>
      <p:sp>
        <p:nvSpPr>
          <p:cNvPr id="6" name="stat label"/>
          <p:cNvSpPr txBox="1"/>
          <p:nvPr/>
        </p:nvSpPr>
        <p:spPr>
          <a:xfrm>
            <a:off x="8001000" y="2121408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on-time rate when the plan is feasible vs. infeasible (Cramér's V = 0.40, the strongest driver found)</a:t>
            </a:r>
            <a:endParaRPr lang="en-US" sz="1300" dirty="0"/>
          </a:p>
        </p:txBody>
      </p:sp>
      <p:sp>
        <p:nvSpPr>
          <p:cNvPr id="7" name="stat card"/>
          <p:cNvSpPr/>
          <p:nvPr/>
        </p:nvSpPr>
        <p:spPr>
          <a:xfrm>
            <a:off x="7772400" y="2926080"/>
            <a:ext cx="3870655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8001000" y="306324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 h</a:t>
            </a:r>
            <a:endParaRPr lang="en-US" sz="3000" dirty="0"/>
          </a:p>
        </p:txBody>
      </p:sp>
      <p:sp>
        <p:nvSpPr>
          <p:cNvPr id="9" name="stat label"/>
          <p:cNvSpPr txBox="1"/>
          <p:nvPr/>
        </p:nvSpPr>
        <p:spPr>
          <a:xfrm>
            <a:off x="8001000" y="3767328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 planned transit for every band from 100 km to 2,000+ km, while 2,000+ km needs ≈ 233 h at 250 km/day</a:t>
            </a:r>
            <a:endParaRPr lang="en-US" sz="1300" dirty="0"/>
          </a:p>
        </p:txBody>
      </p:sp>
      <p:sp>
        <p:nvSpPr>
          <p:cNvPr id="10" name="stat card"/>
          <p:cNvSpPr/>
          <p:nvPr/>
        </p:nvSpPr>
        <p:spPr>
          <a:xfrm>
            <a:off x="7772400" y="4572000"/>
            <a:ext cx="38706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stat value"/>
          <p:cNvSpPr txBox="1"/>
          <p:nvPr/>
        </p:nvSpPr>
        <p:spPr>
          <a:xfrm>
            <a:off x="8001000" y="470916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43.7%</a:t>
            </a:r>
            <a:endParaRPr lang="en-US" sz="3000" dirty="0"/>
          </a:p>
        </p:txBody>
      </p:sp>
      <p:sp>
        <p:nvSpPr>
          <p:cNvPr id="12" name="stat label"/>
          <p:cNvSpPr txBox="1"/>
          <p:nvPr/>
        </p:nvSpPr>
        <p:spPr>
          <a:xfrm>
            <a:off x="8001000" y="5413248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all bookings are given an ETA that is physically unachievable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Bottleneck lanes: infeasible long-haul plans plus short-haul dwell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822960"/>
                <a:gridCol w="1463040"/>
                <a:gridCol w="1280160"/>
                <a:gridCol w="1097280"/>
                <a:gridCol w="2496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Trips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OTIF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Median lead (d)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Median km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Maharashtra → Assam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2,750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Infeasible SLA (long haul)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Tamil Nadu → Haryana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2,300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Infeasible SLA (long haul)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Tamil Nadu → Gujarat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6.1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1,900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Infeasible SLA (long haul)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Maharashtra → Rajasthan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1,178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Infeasible SLA (long haul)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Uttar Pradesh → Uttar Pradesh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Dwell / waiting at site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Odisha → Odisha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Dwell / waiting at site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By destination zone: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North-East 9.4 d / 22%  ·  North 6.9 d / 12%  ·  West 4.8 d / 37%  ·  East 4.8 d / 29%  ·  South 2.9 d / 53%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North-East adds terrain and permit delays: 9.4 days median for only 307 km.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Who and what drives delay?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Q3 carriers · Q4 material · Q5 utilisation · Q6 GPS anomalies · Q7 weekday · Q8 cost · Q9 breaking points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7E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Q3: judge carriers against their lane, and twelve fall far short</a:t>
            </a:r>
            <a:endParaRPr lang="en-US" sz="2600" dirty="0"/>
          </a:p>
        </p:txBody>
      </p:sp>
      <p:graphicFrame>
        <p:nvGraphicFramePr>
          <p:cNvPr id="3" name="Carrier vs expected chart" descr=""/>
          <p:cNvGraphicFramePr/>
          <p:nvPr/>
        </p:nvGraphicFramePr>
        <p:xfrm>
          <a:off x="548640" y="1280160"/>
          <a:ext cx="67665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589520" y="1280160"/>
            <a:ext cx="4053535" cy="4709160"/>
          </a:xfrm>
          <a:prstGeom prst="roundRect">
            <a:avLst>
              <a:gd name="adj" fmla="val 18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bullets"/>
          <p:cNvSpPr txBox="1"/>
          <p:nvPr/>
        </p:nvSpPr>
        <p:spPr>
          <a:xfrm>
            <a:off x="7818120" y="1463040"/>
            <a:ext cx="355061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Exit / re-tender: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12 carriers ≥ 15 pp below their lane benchmark, about 800 trips (22%). K M R (0%), A P R Trailler (10%), K. Ramachandran (5%), Sunita Carriers (17% on 160 trips).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Don't fire the wrong ones: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Ekta (21.8%) and Trans Cargo (13.1%) look bad, but perform as expected on 1,900–2,400 km lanes. Fix their SLA instead.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Grow: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9 preferred carriers (e.g. Sr Transports 100% on 113 trips, VJ Logistics +26 pp on 174).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Data gap: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217 trips have no carrier recorded.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Q4 &amp; Q7: neither the cargo nor 'Wednesday' explains the delays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6233008" y="128016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OTIF % by material type</a:t>
            </a:r>
            <a:endParaRPr lang="en-US" sz="1600" dirty="0"/>
          </a:p>
        </p:txBody>
      </p:sp>
      <p:graphicFrame>
        <p:nvGraphicFramePr>
          <p:cNvPr id="6" name="Material chart" descr=""/>
          <p:cNvGraphicFramePr/>
          <p:nvPr/>
        </p:nvGraphicFramePr>
        <p:xfrm>
          <a:off x="640080" y="1737360"/>
          <a:ext cx="5227168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457200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Significant (p &lt; 0.001) but weak: Cramér's V = 0.12 vs 0.40 for SLA feasibility. After controlling for lane, categories sit within ±7 pp of expected.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61608" y="13716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Weekday OTIF vs. lane-expected</a:t>
            </a:r>
            <a:endParaRPr lang="en-US" sz="1600" dirty="0"/>
          </a:p>
        </p:txBody>
      </p:sp>
      <p:graphicFrame>
        <p:nvGraphicFramePr>
          <p:cNvPr id="9" name="Weekday chart" descr=""/>
          <p:cNvGraphicFramePr/>
          <p:nvPr/>
        </p:nvGraphicFramePr>
        <p:xfrm>
          <a:off x="6324448" y="1737360"/>
          <a:ext cx="5227168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61608" y="457200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Wednesday (37.4%) is exactly what its lane mix predicts (−0.3 pp). The weak days are the weekend: Saturday sends the longest loads (median 1,083 km), and Sunday is 17 pp below expected.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Q5 &amp; Q6: one in ten trips runs empty; one in four has a GPS anomaly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548640" y="128016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77724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10.6%</a:t>
            </a:r>
            <a:endParaRPr lang="en-US" sz="3400" dirty="0"/>
          </a:p>
        </p:txBody>
      </p:sp>
      <p:sp>
        <p:nvSpPr>
          <p:cNvPr id="5" name="stat label"/>
          <p:cNvSpPr txBox="1"/>
          <p:nvPr/>
        </p:nvSpPr>
        <p:spPr>
          <a:xfrm>
            <a:off x="777240" y="21214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trips carry only returnable empty packaging (trays, bins, foam): ≈ ₹13.4 M of modelled spend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548640" y="292608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77724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55%</a:t>
            </a:r>
            <a:endParaRPr lang="en-US" sz="3400" dirty="0"/>
          </a:p>
        </p:txBody>
      </p:sp>
      <p:sp>
        <p:nvSpPr>
          <p:cNvPr id="8" name="stat label"/>
          <p:cNvSpPr txBox="1"/>
          <p:nvPr/>
        </p:nvSpPr>
        <p:spPr>
          <a:xfrm>
            <a:off x="777240" y="37673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25–35 MT trailer trips are shuttles under 100 km, so capacity is very likely under-used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No weight field exists, so these are observable proxies. Start capturing loaded tonnes at dispatch.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206240" y="1280160"/>
            <a:ext cx="7436815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371600"/>
            <a:ext cx="6979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GPS route vs. straight-line distance (median road factor 1.31×)</a:t>
            </a:r>
            <a:endParaRPr lang="en-US" sz="1600" dirty="0"/>
          </a:p>
        </p:txBody>
      </p:sp>
      <p:graphicFrame>
        <p:nvGraphicFramePr>
          <p:cNvPr id="12" name="Anomaly chart" descr=""/>
          <p:cNvGraphicFramePr/>
          <p:nvPr/>
        </p:nvGraphicFramePr>
        <p:xfrm>
          <a:off x="4297680" y="1783080"/>
          <a:ext cx="3566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bullets"/>
          <p:cNvSpPr txBox="1"/>
          <p:nvPr/>
        </p:nvSpPr>
        <p:spPr>
          <a:xfrm>
            <a:off x="7955280" y="1920240"/>
            <a:ext cx="3459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DC2626"/>
                </a:solidFill>
              </a:rPr>
              <a:t>11.7% impossible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(route shorter than straight line): wrong distance or pin. Only 16% on time, because bad inputs make bad ETAs.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97316"/>
                </a:solidFill>
              </a:rPr>
              <a:t>5.7% detours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(&gt; 2.5× straight line): route-compliance checks.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7490"/>
                </a:solidFill>
              </a:rPr>
              <a:t>6.6% round trips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(origin = destination): milk runs, 98% on time. They need their own SLA logic.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76% normal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Q8 &amp; Q9: the North is the costliest and least reliable region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Modelled cost per tonne (INR) by destination zone</a:t>
            </a:r>
            <a:endParaRPr lang="en-US" sz="1500" dirty="0"/>
          </a:p>
        </p:txBody>
      </p:sp>
      <p:graphicFrame>
        <p:nvGraphicFramePr>
          <p:cNvPr id="5" name="Cost chart" descr=""/>
          <p:cNvGraphicFramePr/>
          <p:nvPr/>
        </p:nvGraphicFramePr>
        <p:xfrm>
          <a:off x="640080" y="1783080"/>
          <a:ext cx="4297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Assumed rate card (₹22–58/km by vehicle class) × distance ÷ capacity. The North takes 34% of modelled spend.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80160"/>
          <a:ext cx="633953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640080"/>
                <a:gridCol w="822960"/>
                <a:gridCol w="28648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Breaking point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OTIF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Haryana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Distance-based SLA + North / West 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Maharashtra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Distance-based SLA + North / West 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West Bengal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Dual-source (top carrier 57%)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Rajasthan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Distance-based SLA + North / West 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Odisha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Dual-source (top carrier 63%)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03520" y="457200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 of thumb: a feasible plan with poor results points to the carrier. An infeasible long-haul plan points to the SLA and the network (hub).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Predict it, then fix it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Q10 early-warning rules · dashboard · recommendations and 90-day 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7E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Q10: four booking-time rules flag 82% of late trips in advance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 (known at booking)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Points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 if flagged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 otherwise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Infeasible SLA (planned speed &gt; 10.4 km/h)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 haul (&gt; 1,200 km)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Carrier with weak history (&lt; 25% on-time)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lane with weak history (&lt; 25% on-time)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Risk band chart" descr=""/>
          <p:cNvGraphicFramePr/>
          <p:nvPr/>
        </p:nvGraphicFramePr>
        <p:xfrm>
          <a:off x="548640" y="3977640"/>
          <a:ext cx="67665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589520" y="1280160"/>
            <a:ext cx="4053535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7818120" y="14173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72% / 82%</a:t>
            </a:r>
            <a:endParaRPr lang="en-US" sz="2800" dirty="0"/>
          </a:p>
        </p:txBody>
      </p:sp>
      <p:sp>
        <p:nvSpPr>
          <p:cNvPr id="7" name="stat label"/>
          <p:cNvSpPr txBox="1"/>
          <p:nvPr/>
        </p:nvSpPr>
        <p:spPr>
          <a:xfrm>
            <a:off x="7818120" y="2121408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precision / recall at score ≥ 3 on the Aug-2020 out-of-time test</a:t>
            </a:r>
            <a:endParaRPr lang="en-US" sz="1300" dirty="0"/>
          </a:p>
        </p:txBody>
      </p:sp>
      <p:sp>
        <p:nvSpPr>
          <p:cNvPr id="8" name="stat card"/>
          <p:cNvSpPr/>
          <p:nvPr/>
        </p:nvSpPr>
        <p:spPr>
          <a:xfrm>
            <a:off x="7589520" y="2880360"/>
            <a:ext cx="4053535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7818120" y="30175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84%</a:t>
            </a:r>
            <a:endParaRPr lang="en-US" sz="2800" dirty="0"/>
          </a:p>
        </p:txBody>
      </p:sp>
      <p:sp>
        <p:nvSpPr>
          <p:cNvPr id="10" name="stat label"/>
          <p:cNvSpPr txBox="1"/>
          <p:nvPr/>
        </p:nvSpPr>
        <p:spPr>
          <a:xfrm>
            <a:off x="7818120" y="3721608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vs. 67% for 'always on time'</a:t>
            </a:r>
            <a:endParaRPr lang="en-US" sz="1300" dirty="0"/>
          </a:p>
        </p:txBody>
      </p:sp>
      <p:sp>
        <p:nvSpPr>
          <p:cNvPr id="11" name="stat card"/>
          <p:cNvSpPr/>
          <p:nvPr/>
        </p:nvSpPr>
        <p:spPr>
          <a:xfrm>
            <a:off x="7589520" y="4480560"/>
            <a:ext cx="4053535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7818120" y="46177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37%</a:t>
            </a:r>
            <a:endParaRPr lang="en-US" sz="2800" dirty="0"/>
          </a:p>
        </p:txBody>
      </p:sp>
      <p:sp>
        <p:nvSpPr>
          <p:cNvPr id="13" name="stat label"/>
          <p:cNvSpPr txBox="1"/>
          <p:nvPr/>
        </p:nvSpPr>
        <p:spPr>
          <a:xfrm>
            <a:off x="7818120" y="5321808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bookings get an alert: manageable for customer service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Power BI: Network Overview with a GPS hot-spot map</a:t>
            </a:r>
            <a:endParaRPr lang="en-US" sz="2600" dirty="0"/>
          </a:p>
        </p:txBody>
      </p:sp>
      <p:pic>
        <p:nvPicPr>
          <p:cNvPr id="3" name="Network Overview screenshot" descr="Power BI Network Overview: KPI cards, monthly OTIF, OTIF by distance band, GPS hot-spot map of destination cities, OTIF by z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868" y="1188720"/>
            <a:ext cx="882396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…plus a root-cause page and a region-to-shipment drill-through</a:t>
            </a:r>
            <a:endParaRPr lang="en-US" sz="2600" dirty="0"/>
          </a:p>
        </p:txBody>
      </p:sp>
      <p:pic>
        <p:nvPicPr>
          <p:cNvPr id="3" name="Root cause screenshot" descr="Root cause page: SLA feasibility, lane matrix, weekday, carrier benchmark, material, GPS anomal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027229"/>
          </a:xfrm>
          <a:prstGeom prst="rect">
            <a:avLst/>
          </a:prstGeom>
        </p:spPr>
      </p:pic>
      <p:pic>
        <p:nvPicPr>
          <p:cNvPr id="4" name="Drill-through screenshot" descr="Shipment drill-through for Haryana: carriers, risk bands, routes and trip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0272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490269"/>
            <a:ext cx="541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Root Cause: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feasible vs. infeasible plans, zone → state lane matrix, carrier vs. lane benchmark, weekday vs. expected, material, GPS anomalies.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233008" y="4490269"/>
            <a:ext cx="541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Shipment Detail (drill-through):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right-click a region to see its carriers, risk bands, routes and every truck (here Haryana: 372 trips, 12.9% OTIF).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48640" y="5349240"/>
            <a:ext cx="351525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34924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 Overview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How healthy? KPIs, trend, map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8218" y="5349240"/>
            <a:ext cx="351525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66818" y="534924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 Root cause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Why late? SLA, lane, carrier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127797" y="5349240"/>
            <a:ext cx="3515258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56397" y="534924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 Drill-through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Which trucks? Region → shipment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Three moves that beat the +5 pp target next quarter</a:t>
            </a:r>
            <a:endParaRPr lang="en-US" sz="2600" dirty="0"/>
          </a:p>
        </p:txBody>
      </p:sp>
      <p:graphicFrame>
        <p:nvGraphicFramePr>
          <p:cNvPr id="3" name="Uplift chart" descr=""/>
          <p:cNvGraphicFramePr/>
          <p:nvPr/>
        </p:nvGraphicFramePr>
        <p:xfrm>
          <a:off x="548640" y="128016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66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lever is measured against today's 38.6% baseline; the levers are not simply additive. Moves 1 + 2 alone ≈ +11.8 pp.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669280" y="1280160"/>
            <a:ext cx="597377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5852160" y="146304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badge number"/>
          <p:cNvSpPr txBox="1"/>
          <p:nvPr/>
        </p:nvSpPr>
        <p:spPr>
          <a:xfrm>
            <a:off x="585216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389888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Re-tender the 12 weakest carriers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1389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+6.8 pp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755648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Procurement · Weeks 1–6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048256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Move about 800 trips to the 9 preferred carriers; lane-benchmark scorecard in every QBR.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669280" y="2852928"/>
            <a:ext cx="597377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5852160" y="3035808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badge number"/>
          <p:cNvSpPr txBox="1"/>
          <p:nvPr/>
        </p:nvSpPr>
        <p:spPr>
          <a:xfrm>
            <a:off x="58521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96265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Booking-time early-warning score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722815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+5.0 pp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328416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service + dispatch · Weeks 2–4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621024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Critical → call the customer with a realistic ETA; High → dispatcher checks carrier and slot.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669280" y="4425696"/>
            <a:ext cx="597377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852160" y="4608576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badge number"/>
          <p:cNvSpPr txBox="1"/>
          <p:nvPr/>
        </p:nvSpPr>
        <p:spPr>
          <a:xfrm>
            <a:off x="585216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535424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Distance-based SLA + data fixes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22815" y="4535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+15.6 pp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901184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Planning + IT · Weeks 4–12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5193792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Re-baselines the promise: ETA = distance ÷ 250 km/day + buffer; fix the 24% GPS anomalies; capture weight.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90-day roadmap and the KPIs the dashboard will track</a:t>
            </a:r>
            <a:endParaRPr lang="en-US" sz="2600" dirty="0"/>
          </a:p>
        </p:txBody>
      </p:sp>
      <p:sp>
        <p:nvSpPr>
          <p:cNvPr id="3" name="phase header"/>
          <p:cNvSpPr/>
          <p:nvPr/>
        </p:nvSpPr>
        <p:spPr>
          <a:xfrm>
            <a:off x="548640" y="1280160"/>
            <a:ext cx="3515258" cy="6858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Days 0–30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Quick wins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057400"/>
            <a:ext cx="351525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777240" y="219456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Carrier scorecards shared; re-tender launched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Early-warning score live in CS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Weekend long-haul release rule</a:t>
            </a:r>
            <a:endParaRPr lang="en-US" sz="1400" dirty="0"/>
          </a:p>
        </p:txBody>
      </p:sp>
      <p:sp>
        <p:nvSpPr>
          <p:cNvPr id="7" name="phase header"/>
          <p:cNvSpPr/>
          <p:nvPr/>
        </p:nvSpPr>
        <p:spPr>
          <a:xfrm>
            <a:off x="4338218" y="1280160"/>
            <a:ext cx="3515258" cy="6858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280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Days 31–60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Re-plan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338218" y="2057400"/>
            <a:ext cx="351525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bullets"/>
          <p:cNvSpPr txBox="1"/>
          <p:nvPr/>
        </p:nvSpPr>
        <p:spPr>
          <a:xfrm>
            <a:off x="4566818" y="219456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Distance-based SLA piloted on North lanes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GPS / distance master-data clean-up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Backhaul matching for empty returns</a:t>
            </a:r>
            <a:endParaRPr lang="en-US" sz="1400" dirty="0"/>
          </a:p>
        </p:txBody>
      </p:sp>
      <p:sp>
        <p:nvSpPr>
          <p:cNvPr id="11" name="phase header"/>
          <p:cNvSpPr/>
          <p:nvPr/>
        </p:nvSpPr>
        <p:spPr>
          <a:xfrm>
            <a:off x="8127797" y="1280160"/>
            <a:ext cx="3515258" cy="6858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280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Days 61–90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Scale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127797" y="2057400"/>
            <a:ext cx="351525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bullets"/>
          <p:cNvSpPr txBox="1"/>
          <p:nvPr/>
        </p:nvSpPr>
        <p:spPr>
          <a:xfrm>
            <a:off x="8356397" y="219456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New carrier panel live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SLA rolled out network-wide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North hub business case to the Board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023360"/>
            <a:ext cx="2036003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148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OTIF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7200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Today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38.6%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2064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Target  </a:t>
            </a:r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≥ 43.6%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2813243" y="4023360"/>
            <a:ext cx="2036003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96123" y="41148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Feasible ETAs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996123" y="457200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Today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56%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996123" y="512064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Target  </a:t>
            </a:r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100%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077846" y="4023360"/>
            <a:ext cx="2036003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60726" y="41148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Exit carriers' share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60726" y="457200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Today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22%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60726" y="512064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Target  </a:t>
            </a:r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&lt; 5%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7342449" y="4023360"/>
            <a:ext cx="2036003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25329" y="41148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GPS anomalies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25329" y="457200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Today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24%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25329" y="512064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Target  </a:t>
            </a:r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&lt; 10%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9607052" y="4023360"/>
            <a:ext cx="2036003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89932" y="41148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Empty-return trips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89932" y="457200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Today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10.6%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789932" y="512064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Target  </a:t>
            </a:r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&lt; 7%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Thank you: questions &amp; discussion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Decision needed: approve the carrier re-tender and the early-warning rollout now, and the distance-based SLA pilot on North lanes.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Appendix: notebook (03_Python) · Power BI project (04_PowerBI) · data quality log, carrier scorecard (03_Python/outputs)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haratLink">
  <a:themeElements>
    <a:clrScheme name="BharatLink">
      <a:dk1>
        <a:srgbClr val="1F2937"/>
      </a:dk1>
      <a:lt1>
        <a:srgbClr val="FFFFFF"/>
      </a:lt1>
      <a:dk2>
        <a:srgbClr val="0F2A4A"/>
      </a:dk2>
      <a:lt2>
        <a:srgbClr val="FFF7ED"/>
      </a:lt2>
      <a:accent1>
        <a:srgbClr val="0F2A4A"/>
      </a:accent1>
      <a:accent2>
        <a:srgbClr val="F97316"/>
      </a:accent2>
      <a:accent3>
        <a:srgbClr val="0E7490"/>
      </a:accent3>
      <a:accent4>
        <a:srgbClr val="16A34A"/>
      </a:accent4>
      <a:accent5>
        <a:srgbClr val="DC2626"/>
      </a:accent5>
      <a:accent6>
        <a:srgbClr val="94A3B8"/>
      </a:accent6>
      <a:hlink>
        <a:srgbClr val="0E7490"/>
      </a:hlink>
      <a:folHlink>
        <a:srgbClr val="C2410C"/>
      </a:folHlink>
    </a:clrScheme>
    <a:fontScheme name="BharatLink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BharatLink Freight OTIF Turnaround</dc:title>
  <dc:subject>Transportation &amp; logistics case study</dc:subject>
  <dc:creator>Pham Hong Hieu</dc:creator>
  <cp:lastModifiedBy>Pham Hong Hieu</cp:lastModifiedBy>
  <cp:revision>1</cp:revision>
  <dcterms:created xsi:type="dcterms:W3CDTF">2026-10-26T08:35:29Z</dcterms:created>
  <dcterms:modified xsi:type="dcterms:W3CDTF">2026-10-26T08:35:29Z</dcterms:modified>
</cp:coreProperties>
</file>